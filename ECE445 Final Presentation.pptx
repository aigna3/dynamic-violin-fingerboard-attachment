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31"/>
  </p:notesMasterIdLst>
  <p:sldIdLst>
    <p:sldId id="283" r:id="rId2"/>
    <p:sldId id="290" r:id="rId3"/>
    <p:sldId id="277" r:id="rId4"/>
    <p:sldId id="301" r:id="rId5"/>
    <p:sldId id="314" r:id="rId6"/>
    <p:sldId id="302" r:id="rId7"/>
    <p:sldId id="303" r:id="rId8"/>
    <p:sldId id="304" r:id="rId9"/>
    <p:sldId id="281" r:id="rId10"/>
    <p:sldId id="305" r:id="rId11"/>
    <p:sldId id="306" r:id="rId12"/>
    <p:sldId id="323" r:id="rId13"/>
    <p:sldId id="307" r:id="rId14"/>
    <p:sldId id="300" r:id="rId15"/>
    <p:sldId id="308" r:id="rId16"/>
    <p:sldId id="325" r:id="rId17"/>
    <p:sldId id="326" r:id="rId18"/>
    <p:sldId id="317" r:id="rId19"/>
    <p:sldId id="329" r:id="rId20"/>
    <p:sldId id="324" r:id="rId21"/>
    <p:sldId id="319" r:id="rId22"/>
    <p:sldId id="330" r:id="rId23"/>
    <p:sldId id="331" r:id="rId24"/>
    <p:sldId id="321" r:id="rId25"/>
    <p:sldId id="322" r:id="rId26"/>
    <p:sldId id="312" r:id="rId27"/>
    <p:sldId id="313" r:id="rId28"/>
    <p:sldId id="298" r:id="rId29"/>
    <p:sldId id="285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35" roundtripDataSignature="AMtx7mhSaRiTD9uDhGJ3nUfwohnl+c0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4B36"/>
    <a:srgbClr val="13294B"/>
    <a:srgbClr val="15264B"/>
    <a:srgbClr val="1B4284"/>
    <a:srgbClr val="FA5738"/>
    <a:srgbClr val="FF552E"/>
    <a:srgbClr val="0E2248"/>
    <a:srgbClr val="0E2E5A"/>
    <a:srgbClr val="0B1A53"/>
    <a:srgbClr val="030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E683C-C697-0D03-CFA6-DA88F1436050}" v="1822" dt="2026-05-05T04:23:04.117"/>
    <p1510:client id="{E74DDD2C-00BB-8B52-7197-0EC64ACFCBEE}" v="1198" dt="2026-05-05T01:05:58.638"/>
    <p1510:client id="{F35C22B1-8BEE-BF4B-A807-3CA5A732CDA8}" v="409" dt="2026-05-05T05:03:46.8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0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8369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62C9ADDD-C8E8-0687-F781-A7FB73B4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938E8C52-C243-E644-1753-153B55024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3A6C5ACA-BC1D-9F41-9645-5A338F5372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835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D8501C75-7C1E-4B13-7C3F-E13F9EA0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C8D14539-F019-4B99-26F8-434409F3E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4B2D85B9-C2AC-35C8-35C1-DF2E505BB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842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8323C34B-6171-B650-4331-23C8DB5A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4FF7FEAB-E35D-47B9-CDBB-FD0DFD8CE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5297D10C-6DB9-1059-1FC4-6BF8D045F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5228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C3FF70AF-DC2C-1BCB-C078-F116E3A5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25583D31-B570-BC7E-BC4A-76C6E5695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8B68D009-7D8B-5701-9826-7F004692F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3929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D0D13288-6460-0F7E-DE18-50CEB7BF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8287A17D-6231-E29A-FA6C-3EDDF8F0D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3C23AF66-C914-57AB-63A7-41B5DCE4A4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583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7D3C51F3-F202-69A7-545E-5D8E6D12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40CAE5ED-B843-FA71-2947-A270C9FCC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86850B2F-4468-44F5-46B1-93A9304871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8950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4C528E87-0CC1-0C04-55A0-8D08BE088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D08AA5-E7B6-C2CA-8AFD-B706D855E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AD3873AB-E309-FB00-4FF7-1AC92526F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9767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5DA80A4C-4C25-5F41-A367-FB68546A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D1BC514F-881C-1238-06E8-0CD04C7C7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9F49CEFD-A179-2B2E-5433-13040AAE4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7934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F2D647BF-9BF1-F5F7-CBD4-24DA014D6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01A1EF43-C1C1-4607-5CA4-B7096BDF1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5648F031-8738-42B7-8E5C-DC53658F1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1892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BA57A85C-0C20-3319-A72A-4912DD89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63C357B8-534D-B443-7518-0299B61E84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B355B4F1-D74B-0678-EAAB-2DF707ED6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3465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150756D4-43E8-CE8D-A18B-E28EB5EB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1C029878-D78B-4F89-68D9-7900C5079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0512FA6E-04CB-2AEC-15D7-6781D8116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99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92E49A6D-491E-089B-A5AF-8DEFA62C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45C69E72-9AAA-78A6-6117-D861535B1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0D807C8A-A604-7CE5-B547-C954864473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6322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B86C1541-5B30-7C84-92A1-87F601F2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7265649A-0E1B-CC99-AB31-B03122C45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34F6F329-4C17-2031-884A-D17D52404C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6586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D75B765B-E98F-8663-2FFA-83966BF0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40C85E86-5033-1177-9438-5596751D3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8E9AD4BF-0C93-55A0-D279-01A57552C1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2854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2A36AE26-7A72-69A6-CC43-5FD30AFE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1D307573-DEB9-795C-FDB9-8E59751D2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35373F7A-02FF-6732-B857-48673AEB1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1394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2E2279F1-A79B-BAB6-8FF9-52CC48B04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E78F3AD7-9213-2486-8D60-579E7C3DE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>
            <a:extLst>
              <a:ext uri="{FF2B5EF4-FFF2-40B4-BE49-F238E27FC236}">
                <a16:creationId xmlns:a16="http://schemas.microsoft.com/office/drawing/2014/main" id="{BBAA6B83-CF74-312C-6527-31752A7E5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2166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7;p1">
            <a:extLst>
              <a:ext uri="{FF2B5EF4-FFF2-40B4-BE49-F238E27FC236}">
                <a16:creationId xmlns:a16="http://schemas.microsoft.com/office/drawing/2014/main" id="{6EE6B1E5-9B9E-FD48-9F48-627803FDB7F5}"/>
              </a:ext>
            </a:extLst>
          </p:cNvPr>
          <p:cNvSpPr txBox="1"/>
          <p:nvPr/>
        </p:nvSpPr>
        <p:spPr>
          <a:xfrm>
            <a:off x="1134035" y="2553964"/>
            <a:ext cx="9923929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chemeClr val="lt1"/>
                </a:solidFill>
                <a:latin typeface="+mn-lt"/>
                <a:ea typeface="Helvetica Neue"/>
                <a:cs typeface="Helvetica Neue"/>
                <a:sym typeface="Helvetica Neue"/>
              </a:rPr>
              <a:t>Dynamic Violin Fingerboard</a:t>
            </a:r>
            <a:endParaRPr lang="en-US" sz="4500" dirty="0">
              <a:latin typeface="+mn-lt"/>
            </a:endParaRPr>
          </a:p>
          <a:p>
            <a:pPr lvl="0" algn="ctr">
              <a:spcBef>
                <a:spcPts val="600"/>
              </a:spcBef>
            </a:pPr>
            <a:r>
              <a:rPr lang="en-US" sz="2500" dirty="0">
                <a:solidFill>
                  <a:schemeClr val="lt1"/>
                </a:solidFill>
                <a:latin typeface="+mn-lt"/>
                <a:ea typeface="Helvetica Neue"/>
                <a:cs typeface="Helvetica Neue"/>
                <a:sym typeface="Helvetica Neue"/>
              </a:rPr>
              <a:t>Team 93</a:t>
            </a:r>
          </a:p>
          <a:p>
            <a:pPr lvl="0" algn="ctr">
              <a:spcBef>
                <a:spcPts val="600"/>
              </a:spcBef>
            </a:pPr>
            <a:r>
              <a:rPr lang="en-US" sz="2500" dirty="0">
                <a:solidFill>
                  <a:schemeClr val="lt1"/>
                </a:solidFill>
                <a:latin typeface="+mn-lt"/>
                <a:ea typeface="Helvetica Neue"/>
                <a:cs typeface="Helvetica Neue"/>
                <a:sym typeface="Helvetica Neue"/>
              </a:rPr>
              <a:t>Adrian Ignaci, Kamil Waz, Sophia Wilhelm</a:t>
            </a:r>
            <a:endParaRPr lang="en-US" sz="1800" dirty="0">
              <a:solidFill>
                <a:schemeClr val="lt1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B6560-0D29-8109-3DBD-CA9E7189A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007" y="1004743"/>
            <a:ext cx="2909982" cy="7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13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3;p4">
            <a:extLst>
              <a:ext uri="{FF2B5EF4-FFF2-40B4-BE49-F238E27FC236}">
                <a16:creationId xmlns:a16="http://schemas.microsoft.com/office/drawing/2014/main" id="{D8097DB8-312A-AD4F-B4DA-A893E01E8421}"/>
              </a:ext>
            </a:extLst>
          </p:cNvPr>
          <p:cNvSpPr txBox="1"/>
          <p:nvPr/>
        </p:nvSpPr>
        <p:spPr>
          <a:xfrm>
            <a:off x="1295400" y="3086989"/>
            <a:ext cx="96012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15264B"/>
                </a:solidFill>
                <a:latin typeface="+mn-lt"/>
                <a:ea typeface="Helvetica Neue"/>
                <a:cs typeface="Helvetica Neue"/>
                <a:sym typeface="Helvetica Neue"/>
              </a:rPr>
              <a:t>Introduction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15264B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214606-76C9-6208-69B0-AD51E9C7B592}"/>
              </a:ext>
            </a:extLst>
          </p:cNvPr>
          <p:cNvGrpSpPr/>
          <p:nvPr/>
        </p:nvGrpSpPr>
        <p:grpSpPr>
          <a:xfrm>
            <a:off x="3943790" y="2676939"/>
            <a:ext cx="3861740" cy="322845"/>
            <a:chOff x="3943790" y="2676939"/>
            <a:chExt cx="3861740" cy="32284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93F2277-402D-781F-52D4-E4A84DAFDB54}"/>
                </a:ext>
              </a:extLst>
            </p:cNvPr>
            <p:cNvCxnSpPr>
              <a:cxnSpLocks/>
            </p:cNvCxnSpPr>
            <p:nvPr/>
          </p:nvCxnSpPr>
          <p:spPr>
            <a:xfrm>
              <a:off x="4426226" y="2676939"/>
              <a:ext cx="337930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82B4DD8-794A-4D0F-41DC-CFB900672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790" y="2676939"/>
              <a:ext cx="482436" cy="32284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64657B5-8ED7-F5F1-4EC9-4AC1DB313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1"/>
          </a:xfrm>
          <a:prstGeom prst="rect">
            <a:avLst/>
          </a:prstGeom>
        </p:spPr>
      </p:pic>
      <p:sp>
        <p:nvSpPr>
          <p:cNvPr id="5" name="Google Shape;100;p1">
            <a:extLst>
              <a:ext uri="{FF2B5EF4-FFF2-40B4-BE49-F238E27FC236}">
                <a16:creationId xmlns:a16="http://schemas.microsoft.com/office/drawing/2014/main" id="{175BBE93-6EFF-7D00-409D-1F46FBD1D41B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53C8E030-C54F-07A2-20CC-6EDF2C2E18A0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3F7BDA-DA84-1B6D-8A8B-2B1D17F2F5EE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642E1BE-3EDA-22B9-63B0-1AD734831F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AAC706A-F5D5-D2A6-52D1-9B687AC63EA0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561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3200" b="1">
                <a:solidFill>
                  <a:schemeClr val="tx1"/>
                </a:solidFill>
                <a:latin typeface="Arial"/>
                <a:cs typeface="Arial"/>
              </a:rPr>
              <a:t>Objective: Learn to Play Violin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Costly Lessons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Feedback</a:t>
            </a: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5C485F8-53F2-BD48-9D7B-D5B2FD5D6C0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BD31E2B-72C7-9D4E-A895-6763E2548FC1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Problem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B6E5C0-FA20-C9FE-19F9-E7B3D150F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06636C56-6AB9-008D-3477-3E02A32D543D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A45A6282-D2DB-1136-F466-6962143D78A2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1AB203-2CD5-F4CA-5C70-BA5B71133E22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9DA6485-7B21-EEC4-99BA-ADD6CAE12C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6DDC3A1-8DDB-1397-B4BC-A55E0AD5926F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A567525A-A359-A523-EF50-F8CE0C8FC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853" y="1598543"/>
            <a:ext cx="2120900" cy="383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36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3D36BA03-3A77-462D-637D-292193187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E2794130-A1A5-1297-9554-4FE5C8FFA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3200" b="1">
                <a:solidFill>
                  <a:schemeClr val="tx1"/>
                </a:solidFill>
                <a:latin typeface="Arial"/>
                <a:cs typeface="Arial"/>
              </a:rPr>
              <a:t>Main Unit: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Songs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 User through Piece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>
                <a:solidFill>
                  <a:schemeClr val="tx1"/>
                </a:solidFill>
                <a:latin typeface="Arial"/>
                <a:cs typeface="Arial"/>
              </a:rPr>
              <a:t>Check Accuracy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3200" b="1">
                <a:solidFill>
                  <a:schemeClr val="tx1"/>
                </a:solidFill>
                <a:latin typeface="Arial"/>
                <a:cs typeface="Arial"/>
              </a:rPr>
              <a:t>Fingerboard Attachment:</a:t>
            </a:r>
            <a:endParaRPr lang="en-US" sz="3200">
              <a:solidFill>
                <a:schemeClr val="tx1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>
                <a:solidFill>
                  <a:schemeClr val="tx1"/>
                </a:solidFill>
                <a:latin typeface="Arial"/>
                <a:cs typeface="Arial"/>
              </a:rPr>
              <a:t>LEDs</a:t>
            </a:r>
            <a:endParaRPr lang="en-US" sz="2800">
              <a:solidFill>
                <a:schemeClr val="tx1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>
                <a:solidFill>
                  <a:schemeClr val="tx1"/>
                </a:solidFill>
                <a:latin typeface="Arial"/>
                <a:cs typeface="Arial"/>
              </a:rPr>
              <a:t>Potentiometer</a:t>
            </a:r>
            <a:endParaRPr lang="en-US"/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58F244C4-1473-169F-3FBA-DFFD3DFFBA8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DE09733F-7CB9-0C70-AA4C-812748E84FA8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Solution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C71373-0700-8A8D-9396-42CA61246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C608595E-3368-7EB7-AF5C-13DBA2CEE7FE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03D59A55-2886-96E7-1667-3D48EF234A0A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9FD2F3B-7D3D-1175-F031-9E8E8611741F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434512F-BF48-58C2-8F2C-835A978FF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636A6EA-3411-2902-7F98-8AC461EF1AF5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CDE1396E-5ACA-8430-CD1E-2FF0F863E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383" y="1759611"/>
            <a:ext cx="5162126" cy="387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8A7CCC24-BAF4-9941-54DC-05049035834A}"/>
              </a:ext>
            </a:extLst>
          </p:cNvPr>
          <p:cNvSpPr/>
          <p:nvPr/>
        </p:nvSpPr>
        <p:spPr>
          <a:xfrm>
            <a:off x="8770197" y="1947536"/>
            <a:ext cx="1985230" cy="124391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11312C-9FD8-7A15-1FD6-581D3464D60A}"/>
              </a:ext>
            </a:extLst>
          </p:cNvPr>
          <p:cNvSpPr/>
          <p:nvPr/>
        </p:nvSpPr>
        <p:spPr>
          <a:xfrm>
            <a:off x="6517691" y="2567183"/>
            <a:ext cx="1985230" cy="232410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7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  <p:bldP spid="8" grpId="0" animBg="1"/>
      <p:bldP spid="8" grpId="1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B826B253-9AB3-391E-7C48-E3B216A9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32763C4D-E1E6-AB36-BBCF-CDD0F858E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The project is similar to some available products (such as light-up keyboards), but is unique due to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b="1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User uploaded pieces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Analog functionality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Detachability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  <a:buFont typeface="Courier New"/>
              <a:buChar char="o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Swappable neck/board possibilities</a:t>
            </a: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11D77675-5218-63BC-6BE4-A03C007CE71E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FCEA8DCF-5B79-A7F2-6078-3EE79E4EC656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Uniqueness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5F1987-15CF-DD20-5DCA-7168092EE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6D459C5F-6603-320E-8FC5-21ED15BAB7C3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B203220C-928D-81D0-396E-BF8BEC0484C1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0ECF91-AE4C-1A35-FD90-241996CF3F6E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C9C3AFA-3F13-F540-459A-A03DC11EE1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1A8EF5D-7AF6-DEC3-4DAD-54A9AF1D61E3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094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B45FA-FB82-B823-F9C9-69A42826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3;p4">
            <a:extLst>
              <a:ext uri="{FF2B5EF4-FFF2-40B4-BE49-F238E27FC236}">
                <a16:creationId xmlns:a16="http://schemas.microsoft.com/office/drawing/2014/main" id="{ED4C9A33-A32E-BB3A-733D-1082C9AB027B}"/>
              </a:ext>
            </a:extLst>
          </p:cNvPr>
          <p:cNvSpPr txBox="1"/>
          <p:nvPr/>
        </p:nvSpPr>
        <p:spPr>
          <a:xfrm>
            <a:off x="1295400" y="3086989"/>
            <a:ext cx="96012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15264B"/>
                </a:solidFill>
                <a:latin typeface="+mn-lt"/>
                <a:ea typeface="Helvetica Neue"/>
                <a:cs typeface="Helvetica Neue"/>
                <a:sym typeface="Helvetica Neue"/>
              </a:rPr>
              <a:t>Design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15264B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8DBA47-EE89-DC04-E25F-CB21F217DA28}"/>
              </a:ext>
            </a:extLst>
          </p:cNvPr>
          <p:cNvGrpSpPr/>
          <p:nvPr/>
        </p:nvGrpSpPr>
        <p:grpSpPr>
          <a:xfrm>
            <a:off x="3943790" y="2676939"/>
            <a:ext cx="3861740" cy="322845"/>
            <a:chOff x="3943790" y="2676939"/>
            <a:chExt cx="3861740" cy="32284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C2FF5FF-1ED4-4720-F166-4951C8563B30}"/>
                </a:ext>
              </a:extLst>
            </p:cNvPr>
            <p:cNvCxnSpPr>
              <a:cxnSpLocks/>
            </p:cNvCxnSpPr>
            <p:nvPr/>
          </p:nvCxnSpPr>
          <p:spPr>
            <a:xfrm>
              <a:off x="4426226" y="2676939"/>
              <a:ext cx="337930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4D456AC-B72A-794C-278D-2AA19E6206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790" y="2676939"/>
              <a:ext cx="482436" cy="32284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9C1D957-F101-3717-1E46-18D935435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1"/>
          </a:xfrm>
          <a:prstGeom prst="rect">
            <a:avLst/>
          </a:prstGeom>
        </p:spPr>
      </p:pic>
      <p:sp>
        <p:nvSpPr>
          <p:cNvPr id="5" name="Google Shape;100;p1">
            <a:extLst>
              <a:ext uri="{FF2B5EF4-FFF2-40B4-BE49-F238E27FC236}">
                <a16:creationId xmlns:a16="http://schemas.microsoft.com/office/drawing/2014/main" id="{0318A3B2-0C0A-92A7-01A4-16765067E50A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F648E45B-6E38-113C-6490-91320AC47B76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DD2FC50-837B-3B82-EF3C-C48613850FC6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0BB272F-0880-A6BF-8B08-D9834D2A80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076820C-A67C-2B83-0CCD-AA130275E067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36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A8A31C75-C46D-A07D-F4C4-97E62C8D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A6CB788C-9E6D-CE56-17C9-9D8ECD7D8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Considerations: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clearance of violin strings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Non-uniform note spacing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Non-destructive (detachable)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Curved fingerboard surface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Excessive weight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 device point mass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Scroll end -&gt; 2.646 N (0.6lbf)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body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263A2976-C077-ACC5-2E1A-9B6541FB20A0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424B151F-3DE6-0E17-D48F-5AE9B7D42694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Hardware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55C377-3E87-D925-2467-B21A3A5E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0FA21E10-FDE3-AE4E-AFD3-5BC8F15D6CA6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83B635A7-25C5-B545-65AE-31A183748E50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0E755E-7637-2855-F54B-06855D6ED025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96852A0-C5F7-A4A9-1D77-391FAF365F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263884-DB2D-0AA4-DC75-77D4502DD3E9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24" name="Picture 4">
            <a:extLst>
              <a:ext uri="{FF2B5EF4-FFF2-40B4-BE49-F238E27FC236}">
                <a16:creationId xmlns:a16="http://schemas.microsoft.com/office/drawing/2014/main" id="{BCF01263-6E9E-B78E-1C3F-42D2B426C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9" r="12999"/>
          <a:stretch>
            <a:fillRect/>
          </a:stretch>
        </p:blipFill>
        <p:spPr bwMode="auto">
          <a:xfrm>
            <a:off x="6347638" y="2195547"/>
            <a:ext cx="4646428" cy="350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78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94507D7B-EFB9-2C36-2370-5C86EB86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4BDE034C-1067-49C9-0AE3-37A573D7D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Lives in both input and output systems: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Processes location information and maps it to display values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flexible/adaptable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Lots of GPIO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Wireless functionality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members have used it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difficult hardware design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Requires additional hardware to make viable</a:t>
            </a: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4C9B67F-CA2E-94B5-78DE-4D9A5CC60C48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4C204BC1-B526-2E33-5AD2-912F7B3F88C4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ESP32-WROOM-32 Microcontroller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2E17B4-3025-32BC-13E5-1A632B13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3B8A8EFE-8840-888C-6522-90CAE7ECFB68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CC110CF1-C6FD-0A8C-61F9-61AB32E4952E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3470E1-EF31-853D-8153-92FAD6182F76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13FE8B5-330C-8C36-26F2-DC642C0646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1CED1C4-E263-1664-BE38-F0CC3A93437B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81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30;p5">
            <a:extLst>
              <a:ext uri="{FF2B5EF4-FFF2-40B4-BE49-F238E27FC236}">
                <a16:creationId xmlns:a16="http://schemas.microsoft.com/office/drawing/2014/main" id="{46E989CB-9F74-2E4F-8E86-5A3306448C7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31;p5">
            <a:extLst>
              <a:ext uri="{FF2B5EF4-FFF2-40B4-BE49-F238E27FC236}">
                <a16:creationId xmlns:a16="http://schemas.microsoft.com/office/drawing/2014/main" id="{4D85E546-502C-2248-B9C8-AB4DC30199C4}"/>
              </a:ext>
            </a:extLst>
          </p:cNvPr>
          <p:cNvSpPr txBox="1"/>
          <p:nvPr/>
        </p:nvSpPr>
        <p:spPr>
          <a:xfrm>
            <a:off x="614082" y="2904325"/>
            <a:ext cx="486783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+mn-lt"/>
                <a:ea typeface="Helvetica Neue"/>
                <a:cs typeface="Helvetica Neue"/>
                <a:sym typeface="Helvetica Neue"/>
              </a:rPr>
              <a:t>ESP32 with Associated Extra Hardware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7219DE-9691-EBD6-BA06-0BB6BC040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1CC67F05-0914-0381-D3E5-00CE4BCE67DC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6EB9BE4D-549A-1EEB-D798-CA1B3642EBD9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7FFF3C-E85D-2B24-DBFF-5F8D56959EDB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chemeClr val="bg1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CA899C9-A6F5-07CD-22A3-E56778C8D6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99A3649-9E1C-E3CE-C67B-B57220304001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170" name="Picture 2">
            <a:extLst>
              <a:ext uri="{FF2B5EF4-FFF2-40B4-BE49-F238E27FC236}">
                <a16:creationId xmlns:a16="http://schemas.microsoft.com/office/drawing/2014/main" id="{B3C77F43-E49B-0E97-C277-09B8C9444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96" y="0"/>
            <a:ext cx="58963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470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B4546EC-CD3C-5390-1176-1342D742A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2C2B63C0-ED46-C2B7-D944-0C9D2A993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Consists of: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Membrane potentiometer touch sensors (they can float!)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 err="1">
                <a:solidFill>
                  <a:schemeClr val="tx1"/>
                </a:solidFill>
                <a:latin typeface="Arial"/>
                <a:cs typeface="Arial"/>
              </a:rPr>
              <a:t>SpectraSymbol</a:t>
            </a: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 SP-L-0100-103-3-ST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 (For the Web Server)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Web Server replaced USB functionality</a:t>
            </a:r>
            <a:endParaRPr 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59A47777-6761-D332-D261-EAAD016E0A3F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405E3404-5D8F-4C6B-2C52-D6116B3283EA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Input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33D503-6284-E804-ACCB-55A36AB8D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DF6CC1E9-80BE-E7E1-A03F-3C8997F33A34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F7AF5A5A-F335-EBD0-902F-CC6665C76F12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545ED9-681A-E409-E1BA-75D6A699C88C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E1FCF6-E4D7-35BB-8CC2-30B0470CE8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502C2C-3537-34D5-F2CD-6BC4B3372999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196" name="Picture 4">
            <a:extLst>
              <a:ext uri="{FF2B5EF4-FFF2-40B4-BE49-F238E27FC236}">
                <a16:creationId xmlns:a16="http://schemas.microsoft.com/office/drawing/2014/main" id="{D302A207-BE41-D078-D330-4C010D745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350" y="3790798"/>
            <a:ext cx="86233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54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2FF06360-EA34-E3E7-6F90-E86F55963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E3E192E6-5EED-E79F-0F9F-E8314F86C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LCD Screen (16x2)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Individually Addressable LEDs (FZ2812-5050)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be specially spaced to properly display target locations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43632257-E38D-A501-E3F4-5C58F5E0268F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1C179E3B-D829-B43F-5F0C-8D29FB79D962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Output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6A3DFB-F531-C880-6B3D-BED61B0D0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F4D76272-4865-4790-98D4-D74DCBC975A5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6AEF9092-F189-8994-A578-55F322328147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2D2CC0-FF50-53D0-E56C-546432E388B2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F0EEDAE-7D56-85E8-E806-BD41ABF80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D12A345-E7E5-6C3B-5E06-774049E10365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83EFB82-F976-1D44-C4DF-EDBA863D1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525" y="3723968"/>
            <a:ext cx="2374900" cy="151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5F206B49-1019-CC7A-60FD-756F418B0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312" y="2729781"/>
            <a:ext cx="1646832" cy="34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0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943D2072-80B7-5A00-C247-B7B2402F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1527923-32E3-5AD4-AF5C-8302F8869100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24F18F1-20F7-0326-CBCB-D1E526A5CAA2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solidFill>
                  <a:schemeClr val="lt1"/>
                </a:solidFill>
                <a:latin typeface="+mn-lt"/>
                <a:sym typeface="Helvetica Neue Light"/>
              </a:rPr>
              <a:t>String Placements (mm) 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527D23-A569-467A-BEDD-CD40CE075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5E7A045D-0E49-9EFA-9598-AAF141A4C127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5FE3DDEC-8B62-2831-8B6F-6AD03B9930E1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0C9181-6128-5A94-DEEF-F804DFA769C2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C16663-5820-745A-25FA-F309C793FD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E8E3C00-9642-8FF3-8AB7-8F2AB404AEF8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2BCBF6-C822-C00C-EE1B-843FEB93C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605906"/>
              </p:ext>
            </p:extLst>
          </p:nvPr>
        </p:nvGraphicFramePr>
        <p:xfrm>
          <a:off x="991375" y="2078478"/>
          <a:ext cx="10300980" cy="36319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0196">
                  <a:extLst>
                    <a:ext uri="{9D8B030D-6E8A-4147-A177-3AD203B41FA5}">
                      <a16:colId xmlns:a16="http://schemas.microsoft.com/office/drawing/2014/main" val="2731735127"/>
                    </a:ext>
                  </a:extLst>
                </a:gridCol>
                <a:gridCol w="2060196">
                  <a:extLst>
                    <a:ext uri="{9D8B030D-6E8A-4147-A177-3AD203B41FA5}">
                      <a16:colId xmlns:a16="http://schemas.microsoft.com/office/drawing/2014/main" val="686013085"/>
                    </a:ext>
                  </a:extLst>
                </a:gridCol>
                <a:gridCol w="2060196">
                  <a:extLst>
                    <a:ext uri="{9D8B030D-6E8A-4147-A177-3AD203B41FA5}">
                      <a16:colId xmlns:a16="http://schemas.microsoft.com/office/drawing/2014/main" val="4102134387"/>
                    </a:ext>
                  </a:extLst>
                </a:gridCol>
                <a:gridCol w="2060196">
                  <a:extLst>
                    <a:ext uri="{9D8B030D-6E8A-4147-A177-3AD203B41FA5}">
                      <a16:colId xmlns:a16="http://schemas.microsoft.com/office/drawing/2014/main" val="2563158418"/>
                    </a:ext>
                  </a:extLst>
                </a:gridCol>
                <a:gridCol w="2060196">
                  <a:extLst>
                    <a:ext uri="{9D8B030D-6E8A-4147-A177-3AD203B41FA5}">
                      <a16:colId xmlns:a16="http://schemas.microsoft.com/office/drawing/2014/main" val="18937775"/>
                    </a:ext>
                  </a:extLst>
                </a:gridCol>
              </a:tblGrid>
              <a:tr h="6053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862844"/>
                  </a:ext>
                </a:extLst>
              </a:tr>
              <a:tr h="60532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Low 1st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126088"/>
                  </a:ext>
                </a:extLst>
              </a:tr>
              <a:tr h="60532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1st Finger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569121"/>
                  </a:ext>
                </a:extLst>
              </a:tr>
              <a:tr h="605326">
                <a:tc>
                  <a:txBody>
                    <a:bodyPr/>
                    <a:lstStyle/>
                    <a:p>
                      <a:r>
                        <a:rPr lang="en-US"/>
                        <a:t>2nd Finger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447560"/>
                  </a:ext>
                </a:extLst>
              </a:tr>
              <a:tr h="605326">
                <a:tc>
                  <a:txBody>
                    <a:bodyPr/>
                    <a:lstStyle/>
                    <a:p>
                      <a:r>
                        <a:rPr lang="en-US"/>
                        <a:t>High 2nd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388427"/>
                  </a:ext>
                </a:extLst>
              </a:tr>
              <a:tr h="6053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3rd Finger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70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251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5527387-3902-EC31-FCFA-75378194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04475C5F-1691-C797-302C-B64CA5F70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 can hit peaks of 500mA when running a web server!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Assume all LEDs and LCD have a separate current source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must isolate the 5V and 3.3V lines: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has a voltage regulator rated for 800mA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Shut off web server when not in use</a:t>
            </a:r>
          </a:p>
          <a:p>
            <a:pPr marL="1200150" lvl="2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5000mA battery pack</a:t>
            </a:r>
          </a:p>
          <a:p>
            <a:pPr marL="914400" lvl="2" indent="0">
              <a:lnSpc>
                <a:spcPct val="100000"/>
              </a:lnSpc>
              <a:spcBef>
                <a:spcPts val="0"/>
              </a:spcBef>
              <a:buSzPts val="3000"/>
              <a:buNone/>
            </a:pPr>
            <a:endParaRPr 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237C6CE6-C58C-EE4D-2727-3BAEA9609369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19CE395F-8150-AF12-7D54-F28099B75179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Power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5DA82B-C201-70B0-042A-AD1DC86A8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F0DA1309-FD0B-3FD3-E599-07F53E680EBB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993A7C93-EB4A-772A-9F36-05BB8F44812B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201BE4-E51E-CEDF-5462-C80A044E3933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985CBEA-E680-21F9-2A3C-F5A95C3E5D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1368B30-1A5E-B11C-F4EA-9581F9386243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599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7DC51454-A827-BF40-BAF5-B2AD32C87EDB}"/>
              </a:ext>
            </a:extLst>
          </p:cNvPr>
          <p:cNvSpPr txBox="1">
            <a:spLocks/>
          </p:cNvSpPr>
          <p:nvPr/>
        </p:nvSpPr>
        <p:spPr>
          <a:xfrm>
            <a:off x="5131837" y="1010620"/>
            <a:ext cx="6422373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High-Level Function</a:t>
            </a:r>
            <a:endParaRPr lang="en-US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SzPts val="2000"/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>
              <a:buSzPts val="2000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FSM on the left is a basic representation of the software structure and use order of the product.</a:t>
            </a:r>
          </a:p>
          <a:p>
            <a:pPr>
              <a:buSzPts val="2000"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SzPts val="2000"/>
            </a:pPr>
            <a:r>
              <a:rPr lang="en-US" sz="1800" b="1">
                <a:solidFill>
                  <a:schemeClr val="bg1"/>
                </a:solidFill>
              </a:rPr>
              <a:t>Note how each state contains multiple unique behaviors as opposed to a single change.</a:t>
            </a:r>
          </a:p>
        </p:txBody>
      </p:sp>
      <p:sp>
        <p:nvSpPr>
          <p:cNvPr id="14" name="Google Shape;151;p7">
            <a:extLst>
              <a:ext uri="{FF2B5EF4-FFF2-40B4-BE49-F238E27FC236}">
                <a16:creationId xmlns:a16="http://schemas.microsoft.com/office/drawing/2014/main" id="{F2545F42-9820-B547-ACA8-B93EC5B8629C}"/>
              </a:ext>
            </a:extLst>
          </p:cNvPr>
          <p:cNvSpPr txBox="1"/>
          <p:nvPr/>
        </p:nvSpPr>
        <p:spPr>
          <a:xfrm>
            <a:off x="1335481" y="3236505"/>
            <a:ext cx="2280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A5A5A5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IMAGE</a:t>
            </a:r>
            <a:endParaRPr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E9D834-1473-63CE-FFA8-FAE6A3EA3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07FB5EA6-1EE3-7343-17E8-10F42C3208DA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0B8B8B60-7C75-646B-523B-2A5DE91FB230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AB6CC5-0C7C-5CA9-2121-655E3E271845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chemeClr val="bg1"/>
          </a:solidFill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390A5C5-376B-B558-ACC0-2A7090D91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C17B60F-63EB-BD94-4DF0-2746A8041F5B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314" name="Picture 2">
            <a:extLst>
              <a:ext uri="{FF2B5EF4-FFF2-40B4-BE49-F238E27FC236}">
                <a16:creationId xmlns:a16="http://schemas.microsoft.com/office/drawing/2014/main" id="{0F9C7B56-4C19-63BC-3081-229174593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02" y="218393"/>
            <a:ext cx="4494047" cy="610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438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23784DAC-1684-CD98-C843-8540EABE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DD7DBE65-860B-F16C-4FDA-E7A9FDCB8D57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D347E75A-52D2-4EF1-D586-8E68BC7355CC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Software Design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77DF9A-D2EE-7B97-2E50-0518D30B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DB75ABF7-A972-4245-5384-73D45D4DD669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4CBC75B0-0A99-74F3-C992-F78CFEC88E32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844630C-EBEF-0E1C-4599-C4EE5DD10F7E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9E03350-5B1F-0591-B343-01A0D9B035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FED8C5-110C-1572-7004-5CB7F4144A58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A8EA043C-0663-6470-24B7-E80DFB38F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35" t="15636" r="13849" b="30542"/>
          <a:stretch>
            <a:fillRect/>
          </a:stretch>
        </p:blipFill>
        <p:spPr bwMode="auto">
          <a:xfrm>
            <a:off x="2141951" y="953788"/>
            <a:ext cx="7409629" cy="520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824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A377F-69AD-F6EB-E2FA-9CC639C3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3;p4">
            <a:extLst>
              <a:ext uri="{FF2B5EF4-FFF2-40B4-BE49-F238E27FC236}">
                <a16:creationId xmlns:a16="http://schemas.microsoft.com/office/drawing/2014/main" id="{670C9783-2310-06A8-2336-1C6B58BC8D92}"/>
              </a:ext>
            </a:extLst>
          </p:cNvPr>
          <p:cNvSpPr txBox="1"/>
          <p:nvPr/>
        </p:nvSpPr>
        <p:spPr>
          <a:xfrm>
            <a:off x="1295400" y="3086989"/>
            <a:ext cx="96012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>
                <a:solidFill>
                  <a:srgbClr val="15264B"/>
                </a:solidFill>
                <a:latin typeface="+mn-lt"/>
                <a:ea typeface="Helvetica Neue"/>
                <a:cs typeface="Helvetica Neue"/>
                <a:sym typeface="Helvetica Neue"/>
              </a:rPr>
              <a:t>Verification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>
              <a:solidFill>
                <a:srgbClr val="15264B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BA62DD-245E-E0EF-6A10-1E6E180C7701}"/>
              </a:ext>
            </a:extLst>
          </p:cNvPr>
          <p:cNvGrpSpPr/>
          <p:nvPr/>
        </p:nvGrpSpPr>
        <p:grpSpPr>
          <a:xfrm>
            <a:off x="3943790" y="2676939"/>
            <a:ext cx="3861740" cy="322845"/>
            <a:chOff x="3943790" y="2676939"/>
            <a:chExt cx="3861740" cy="32284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9EE7A37E-85C3-F5E8-0705-E99658B195E3}"/>
                </a:ext>
              </a:extLst>
            </p:cNvPr>
            <p:cNvCxnSpPr>
              <a:cxnSpLocks/>
            </p:cNvCxnSpPr>
            <p:nvPr/>
          </p:nvCxnSpPr>
          <p:spPr>
            <a:xfrm>
              <a:off x="4426226" y="2676939"/>
              <a:ext cx="337930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1CB9834-1A50-7BD1-065A-C3F4753411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790" y="2676939"/>
              <a:ext cx="482436" cy="32284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369EAAE-9B2D-4E95-3ADB-687D0926D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1"/>
          </a:xfrm>
          <a:prstGeom prst="rect">
            <a:avLst/>
          </a:prstGeom>
        </p:spPr>
      </p:pic>
      <p:sp>
        <p:nvSpPr>
          <p:cNvPr id="5" name="Google Shape;100;p1">
            <a:extLst>
              <a:ext uri="{FF2B5EF4-FFF2-40B4-BE49-F238E27FC236}">
                <a16:creationId xmlns:a16="http://schemas.microsoft.com/office/drawing/2014/main" id="{90689F94-2AC0-0A63-621D-B901EF30E8B0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5B6C34DE-3221-0C9B-26CC-165D0B69422E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7358C38-EA6D-E45A-D279-024C9ABCA22C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62F1519-8108-3089-29B2-0651742ED7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34F5033-2198-175E-26BF-A5FFA8BB21CB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7446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A16BE33-F71F-B011-8C85-30E41D31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129A4A85-8FF2-AEE1-8BFA-5DFDE1E352CA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1A2AB448-7B3F-7362-73DC-9BAA3399ECA6}"/>
              </a:ext>
            </a:extLst>
          </p:cNvPr>
          <p:cNvSpPr txBox="1"/>
          <p:nvPr/>
        </p:nvSpPr>
        <p:spPr>
          <a:xfrm>
            <a:off x="376807" y="233819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Requirements/Verification: Output Subsystem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36B4AB-9295-C66D-1B17-D35CD2AFB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7D85A1E7-FF7C-6404-3E2A-FAA2B20AF80D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0EDBB620-DE31-7B79-551C-8FB424898A61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4FB7C3-F6D8-C747-72D5-05EF623BD3F0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BCCB024-DF8E-DD31-0E0D-79A3B665C2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5D5279D-221A-682F-1522-74A4818CF9DB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4B4EDD87-B723-0EAD-FE09-EED9B99B4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9413" y="1228725"/>
            <a:ext cx="11177587" cy="4821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A88B302-3959-D36C-E90B-75A5B3390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697600"/>
              </p:ext>
            </p:extLst>
          </p:nvPr>
        </p:nvGraphicFramePr>
        <p:xfrm>
          <a:off x="376806" y="1572323"/>
          <a:ext cx="11177588" cy="3836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794">
                  <a:extLst>
                    <a:ext uri="{9D8B030D-6E8A-4147-A177-3AD203B41FA5}">
                      <a16:colId xmlns:a16="http://schemas.microsoft.com/office/drawing/2014/main" val="1491573299"/>
                    </a:ext>
                  </a:extLst>
                </a:gridCol>
                <a:gridCol w="5588794">
                  <a:extLst>
                    <a:ext uri="{9D8B030D-6E8A-4147-A177-3AD203B41FA5}">
                      <a16:colId xmlns:a16="http://schemas.microsoft.com/office/drawing/2014/main" val="2476287403"/>
                    </a:ext>
                  </a:extLst>
                </a:gridCol>
              </a:tblGrid>
              <a:tr h="95900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978333"/>
                  </a:ext>
                </a:extLst>
              </a:tr>
              <a:tr h="287701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Tx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Microcontroller &lt;--&gt; LEDs latency self-consistent within </a:t>
                      </a: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 </a:t>
                      </a: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variation tolerance </a:t>
                      </a: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of </a:t>
                      </a:r>
                      <a:r>
                        <a:rPr lang="en-US" sz="1800" b="1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7ms +- 1ms</a:t>
                      </a:r>
                      <a:endParaRPr lang="en-US">
                        <a:sym typeface="Arial"/>
                      </a:endParaRP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oscilloscope to measure</a:t>
                      </a:r>
                      <a:r>
                        <a:rPr lang="en-US" sz="1800" b="1" i="0" u="none" strike="noStrike" cap="none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time between subsequent data packets </a:t>
                      </a:r>
                      <a:endParaRPr lang="en-US" sz="1800" b="0" i="0" u="none" strike="noStrike" cap="non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70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776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98F8-2156-0AC3-BEE2-78BECF5C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925" y="1221933"/>
            <a:ext cx="3959051" cy="1325563"/>
          </a:xfrm>
        </p:spPr>
        <p:txBody>
          <a:bodyPr>
            <a:normAutofit fontScale="90000"/>
          </a:bodyPr>
          <a:lstStyle/>
          <a:p>
            <a:r>
              <a:rPr lang="en-US" sz="2400"/>
              <a:t>0'd at first packet</a:t>
            </a:r>
            <a:br>
              <a:rPr lang="en-US" sz="2400"/>
            </a:br>
            <a:br>
              <a:rPr lang="en-US" sz="2400"/>
            </a:br>
            <a:r>
              <a:rPr lang="en-US" sz="2400"/>
              <a:t>Average of ~10ms latency with a deviation of 1ms.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F818E5E-3955-8ADF-1E08-0B5FDB096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978" b="-315"/>
          <a:stretch>
            <a:fillRect/>
          </a:stretch>
        </p:blipFill>
        <p:spPr>
          <a:xfrm>
            <a:off x="683004" y="1218661"/>
            <a:ext cx="6862205" cy="3915721"/>
          </a:xfrm>
          <a:prstGeom prst="rect">
            <a:avLst/>
          </a:prstGeom>
        </p:spPr>
      </p:pic>
      <p:sp>
        <p:nvSpPr>
          <p:cNvPr id="5" name="Google Shape;145;p7">
            <a:extLst>
              <a:ext uri="{FF2B5EF4-FFF2-40B4-BE49-F238E27FC236}">
                <a16:creationId xmlns:a16="http://schemas.microsoft.com/office/drawing/2014/main" id="{1E3D6C70-CB48-AFBA-DCA1-BA9EBB12A3BA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lang="en-US"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86F7ED-3366-129A-F952-C8C57A76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E863ADAC-4E47-BD53-C262-9695036E8C42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Latency Results</a:t>
            </a:r>
          </a:p>
        </p:txBody>
      </p: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7A2D16D3-6495-8009-A2EF-8226CAEE8653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5EC3A12-DA3D-3B49-D431-65B3AA4C674F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F73226C-F7D4-784D-99C8-DC793B3BE0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EE3A821-1819-11DC-913E-E219290E28C2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Google Shape;100;p1">
            <a:extLst>
              <a:ext uri="{FF2B5EF4-FFF2-40B4-BE49-F238E27FC236}">
                <a16:creationId xmlns:a16="http://schemas.microsoft.com/office/drawing/2014/main" id="{60C3C46B-7AB5-DDBA-09B9-B8BB8DC55E38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15D80C85-EA40-1385-C99A-F172C7D10F55}"/>
              </a:ext>
            </a:extLst>
          </p:cNvPr>
          <p:cNvSpPr/>
          <p:nvPr/>
        </p:nvSpPr>
        <p:spPr>
          <a:xfrm>
            <a:off x="2944395" y="4033621"/>
            <a:ext cx="230347" cy="1428034"/>
          </a:xfrm>
          <a:prstGeom prst="upArrow">
            <a:avLst/>
          </a:prstGeom>
          <a:solidFill>
            <a:srgbClr val="E84B3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Up 18">
            <a:extLst>
              <a:ext uri="{FF2B5EF4-FFF2-40B4-BE49-F238E27FC236}">
                <a16:creationId xmlns:a16="http://schemas.microsoft.com/office/drawing/2014/main" id="{1D136DF9-7D60-178B-93A2-C6236C5B0172}"/>
              </a:ext>
            </a:extLst>
          </p:cNvPr>
          <p:cNvSpPr/>
          <p:nvPr/>
        </p:nvSpPr>
        <p:spPr>
          <a:xfrm>
            <a:off x="4635867" y="4033621"/>
            <a:ext cx="230347" cy="1428034"/>
          </a:xfrm>
          <a:prstGeom prst="upArrow">
            <a:avLst/>
          </a:prstGeom>
          <a:solidFill>
            <a:srgbClr val="E84B3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541C8F2F-3369-7047-1651-61D722F74C76}"/>
              </a:ext>
            </a:extLst>
          </p:cNvPr>
          <p:cNvSpPr/>
          <p:nvPr/>
        </p:nvSpPr>
        <p:spPr>
          <a:xfrm>
            <a:off x="6285471" y="4033620"/>
            <a:ext cx="230347" cy="1428034"/>
          </a:xfrm>
          <a:prstGeom prst="upArrow">
            <a:avLst/>
          </a:prstGeom>
          <a:solidFill>
            <a:srgbClr val="E84B36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D148CB-5E20-8019-9E57-07E9D2575556}"/>
              </a:ext>
            </a:extLst>
          </p:cNvPr>
          <p:cNvSpPr txBox="1"/>
          <p:nvPr/>
        </p:nvSpPr>
        <p:spPr>
          <a:xfrm>
            <a:off x="2345089" y="5448903"/>
            <a:ext cx="140451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Packet 1: 0 </a:t>
            </a:r>
            <a:r>
              <a:rPr lang="en-US" sz="2000" err="1"/>
              <a:t>ms</a:t>
            </a:r>
            <a:endParaRPr lang="en-US" err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9C8340-CE4D-F3F7-6E23-AC41D327CFF3}"/>
              </a:ext>
            </a:extLst>
          </p:cNvPr>
          <p:cNvSpPr txBox="1"/>
          <p:nvPr/>
        </p:nvSpPr>
        <p:spPr>
          <a:xfrm>
            <a:off x="4030621" y="5457285"/>
            <a:ext cx="142845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Packet 2: 10.119 </a:t>
            </a:r>
            <a:r>
              <a:rPr lang="en-US" sz="2000" err="1"/>
              <a:t>ms</a:t>
            </a:r>
            <a:endParaRPr lang="en-US" err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2419BD-1204-CF2D-9866-639E0156F22A}"/>
              </a:ext>
            </a:extLst>
          </p:cNvPr>
          <p:cNvSpPr txBox="1"/>
          <p:nvPr/>
        </p:nvSpPr>
        <p:spPr>
          <a:xfrm>
            <a:off x="5562097" y="5457379"/>
            <a:ext cx="167518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/>
              <a:t>Packet 3: 20.045 </a:t>
            </a:r>
            <a:r>
              <a:rPr lang="en-US" sz="2000" err="1"/>
              <a:t>ms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44157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502EC8C1-0A73-0C60-AF37-656B1515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65D4C041-DA24-B9FF-2381-9B10E4A8671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8C4E9798-8318-E46A-0D9A-CFE09BF4DBE9}"/>
              </a:ext>
            </a:extLst>
          </p:cNvPr>
          <p:cNvSpPr txBox="1"/>
          <p:nvPr/>
        </p:nvSpPr>
        <p:spPr>
          <a:xfrm>
            <a:off x="376807" y="233819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Requirements/Verification: Input Subsystem</a:t>
            </a:r>
            <a:endParaRPr lang="en-US" sz="2400">
              <a:solidFill>
                <a:schemeClr val="lt1"/>
              </a:solidFill>
              <a:latin typeface="+mn-lt"/>
              <a:ea typeface="Helvetica Neue Light"/>
              <a:cs typeface="Helvetica Neue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7EB4EE-E764-25A8-51F1-509F5C51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F82ED101-FE3C-D306-F0CE-7896307E1C97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D1A67DDB-A0B5-43BB-F205-086548E46819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7A7AFC-1C0E-C963-681E-F3BD418D8369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DDAD961-F528-B530-BFD5-E30CCD482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519BCA9-74A1-4251-B520-4ECF2CAED909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640C25FB-05EF-67C9-BC2D-B7EAED851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9413" y="1228725"/>
            <a:ext cx="11177587" cy="4821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CB2CDD9-B438-E463-82F8-61E192292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133947"/>
              </p:ext>
            </p:extLst>
          </p:nvPr>
        </p:nvGraphicFramePr>
        <p:xfrm>
          <a:off x="376806" y="1572323"/>
          <a:ext cx="11177588" cy="3836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794">
                  <a:extLst>
                    <a:ext uri="{9D8B030D-6E8A-4147-A177-3AD203B41FA5}">
                      <a16:colId xmlns:a16="http://schemas.microsoft.com/office/drawing/2014/main" val="1491573299"/>
                    </a:ext>
                  </a:extLst>
                </a:gridCol>
                <a:gridCol w="5588794">
                  <a:extLst>
                    <a:ext uri="{9D8B030D-6E8A-4147-A177-3AD203B41FA5}">
                      <a16:colId xmlns:a16="http://schemas.microsoft.com/office/drawing/2014/main" val="2476287403"/>
                    </a:ext>
                  </a:extLst>
                </a:gridCol>
              </a:tblGrid>
              <a:tr h="95900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978333"/>
                  </a:ext>
                </a:extLst>
              </a:tr>
              <a:tr h="2877013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Web server can upload </a:t>
                      </a: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a </a:t>
                      </a: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file </a:t>
                      </a: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of </a:t>
                      </a: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up to 1 MB in size within 10 seconds</a:t>
                      </a:r>
                      <a:endParaRPr lang="en-US">
                        <a:sym typeface="Arial"/>
                      </a:endParaRP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Use a network analysis tool to measure the delay </a:t>
                      </a: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between </a:t>
                      </a: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sending a file and receiving a response from the server</a:t>
                      </a:r>
                      <a:br>
                        <a:rPr lang="en-US" sz="1800" b="0" i="0" u="none" strike="noStrike" cap="non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endParaRPr lang="en-US" sz="1800" b="0" i="0" u="none" strike="noStrike" cap="non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70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185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E8776-30F1-D874-8E23-84A3B464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0712D662-B39A-8B22-AD36-535AED249B57}"/>
              </a:ext>
            </a:extLst>
          </p:cNvPr>
          <p:cNvSpPr txBox="1">
            <a:spLocks/>
          </p:cNvSpPr>
          <p:nvPr/>
        </p:nvSpPr>
        <p:spPr>
          <a:xfrm>
            <a:off x="7119616" y="2863383"/>
            <a:ext cx="4573547" cy="74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Upload of: IPR Test Document (1 MB)</a:t>
            </a:r>
          </a:p>
        </p:txBody>
      </p:sp>
      <p:sp>
        <p:nvSpPr>
          <p:cNvPr id="14" name="Google Shape;151;p7">
            <a:extLst>
              <a:ext uri="{FF2B5EF4-FFF2-40B4-BE49-F238E27FC236}">
                <a16:creationId xmlns:a16="http://schemas.microsoft.com/office/drawing/2014/main" id="{0FAD9414-B809-3EBF-702A-24C4393EAA28}"/>
              </a:ext>
            </a:extLst>
          </p:cNvPr>
          <p:cNvSpPr txBox="1"/>
          <p:nvPr/>
        </p:nvSpPr>
        <p:spPr>
          <a:xfrm>
            <a:off x="1335481" y="3236505"/>
            <a:ext cx="2280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A5A5A5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IMAGE</a:t>
            </a:r>
            <a:endParaRPr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FE2E9B-968E-0C31-4DC4-01C0E6A85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FB8B9B8F-CDC8-0011-4976-663BDA6F3D0A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0F6849C1-1E65-4AAD-39FD-D198D9FF9A49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F783D7-AA6A-AA29-7B2E-F08449C06F79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chemeClr val="bg1"/>
          </a:solidFill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9D4D0FC-6FEC-266B-10F7-21115986A4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AE051FE-9901-75D3-9BBC-E1A7C79BC6A4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DECA61-1BCD-B6B7-C17D-BF4858296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731" r="179" b="-420"/>
          <a:stretch>
            <a:fillRect/>
          </a:stretch>
        </p:blipFill>
        <p:spPr>
          <a:xfrm>
            <a:off x="107557" y="132903"/>
            <a:ext cx="6417583" cy="1996698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7A5BF4-C247-E61D-4BF0-817DF113D5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4" b="29225"/>
          <a:stretch>
            <a:fillRect/>
          </a:stretch>
        </p:blipFill>
        <p:spPr>
          <a:xfrm>
            <a:off x="107557" y="2290434"/>
            <a:ext cx="6422374" cy="205470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F90EBB-5BF6-ECC6-FA2E-8244774C17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121" b="22490"/>
          <a:stretch>
            <a:fillRect/>
          </a:stretch>
        </p:blipFill>
        <p:spPr>
          <a:xfrm>
            <a:off x="166886" y="4402748"/>
            <a:ext cx="6358254" cy="19562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9B7E6A-824E-16C3-A868-5487FCDA4934}"/>
              </a:ext>
            </a:extLst>
          </p:cNvPr>
          <p:cNvSpPr txBox="1"/>
          <p:nvPr/>
        </p:nvSpPr>
        <p:spPr>
          <a:xfrm>
            <a:off x="7526892" y="823254"/>
            <a:ext cx="33098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Upload of: Musette (1KB)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F9210-7BD1-6700-E005-442B2F885416}"/>
              </a:ext>
            </a:extLst>
          </p:cNvPr>
          <p:cNvSpPr txBox="1"/>
          <p:nvPr/>
        </p:nvSpPr>
        <p:spPr>
          <a:xfrm>
            <a:off x="7117761" y="5065427"/>
            <a:ext cx="41280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Upload of: Blank 1098 Form (1.2 MB)</a:t>
            </a:r>
          </a:p>
        </p:txBody>
      </p:sp>
    </p:spTree>
    <p:extLst>
      <p:ext uri="{BB962C8B-B14F-4D97-AF65-F5344CB8AC3E}">
        <p14:creationId xmlns:p14="http://schemas.microsoft.com/office/powerpoint/2010/main" val="4014669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5DCD-974C-647C-448B-273F7168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621" y="632493"/>
            <a:ext cx="5101389" cy="5590089"/>
          </a:xfrm>
        </p:spPr>
        <p:txBody>
          <a:bodyPr/>
          <a:lstStyle/>
          <a:p>
            <a:r>
              <a:rPr lang="en-US"/>
              <a:t>Upload time grows:</a:t>
            </a:r>
            <a:br>
              <a:rPr lang="en-US" dirty="0"/>
            </a:br>
            <a:r>
              <a:rPr lang="en-US"/>
              <a:t>y=0.34e</a:t>
            </a:r>
            <a:r>
              <a:rPr lang="en-US" baseline="30000"/>
              <a:t>0.0341x</a:t>
            </a:r>
          </a:p>
        </p:txBody>
      </p:sp>
      <p:pic>
        <p:nvPicPr>
          <p:cNvPr id="3" name="Picture 2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DFB63B46-2984-13C8-266C-B056AF06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368" y="1176420"/>
            <a:ext cx="4518527" cy="4518527"/>
          </a:xfrm>
          <a:prstGeom prst="rect">
            <a:avLst/>
          </a:prstGeom>
        </p:spPr>
      </p:pic>
      <p:sp>
        <p:nvSpPr>
          <p:cNvPr id="4" name="Google Shape;145;p7">
            <a:extLst>
              <a:ext uri="{FF2B5EF4-FFF2-40B4-BE49-F238E27FC236}">
                <a16:creationId xmlns:a16="http://schemas.microsoft.com/office/drawing/2014/main" id="{EB2C3BED-E597-0EDD-8EA2-B9027B7DAFD1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628EB-8902-F3BC-D53D-5D8B9AA5B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6" name="Google Shape;100;p1">
            <a:extLst>
              <a:ext uri="{FF2B5EF4-FFF2-40B4-BE49-F238E27FC236}">
                <a16:creationId xmlns:a16="http://schemas.microsoft.com/office/drawing/2014/main" id="{2ACC1AE2-1B7E-0BE8-698C-E09B7DA881EB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Upload Time Equation</a:t>
            </a:r>
          </a:p>
        </p:txBody>
      </p:sp>
      <p:sp>
        <p:nvSpPr>
          <p:cNvPr id="8" name="Google Shape;100;p1">
            <a:extLst>
              <a:ext uri="{FF2B5EF4-FFF2-40B4-BE49-F238E27FC236}">
                <a16:creationId xmlns:a16="http://schemas.microsoft.com/office/drawing/2014/main" id="{502BF9D7-5697-3CA1-0ECA-E9C63BE7BA84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7E22CE-6F90-AEA5-9ABA-3EE94F1AC717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A5BC2E2-C14C-A129-AA93-D8E5181120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4DB0538-5843-5E94-BE4D-D555B07B99F3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Google Shape;100;p1">
            <a:extLst>
              <a:ext uri="{FF2B5EF4-FFF2-40B4-BE49-F238E27FC236}">
                <a16:creationId xmlns:a16="http://schemas.microsoft.com/office/drawing/2014/main" id="{FE587678-6F1F-6D06-9A9F-2347BA3CD93B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</p:spTree>
    <p:extLst>
      <p:ext uri="{BB962C8B-B14F-4D97-AF65-F5344CB8AC3E}">
        <p14:creationId xmlns:p14="http://schemas.microsoft.com/office/powerpoint/2010/main" val="4088255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7B95DC6-DDD7-D258-CD04-8B5C0081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B2C6CB7C-F5B6-F0C4-D8B2-4C3289514342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F2ADEB8A-1CA1-0081-A91A-E0F6163C6D69}"/>
              </a:ext>
            </a:extLst>
          </p:cNvPr>
          <p:cNvSpPr txBox="1"/>
          <p:nvPr/>
        </p:nvSpPr>
        <p:spPr>
          <a:xfrm>
            <a:off x="376807" y="233819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Requirements/Verification: Input Subsystem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8B54B8-68BF-EE57-1CB1-296372AF6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CE0BF001-0365-B017-6148-D99B2E1D24B9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E7456858-70F7-B5DA-E34C-563FD5FEB8FE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509E395-7813-2A32-5D53-B865F69CF880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2F7A34F-E50B-6FFC-345F-C1D57BD2FF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389A965-0FB4-C0E1-A0F0-AF1EF2BD78DF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9390C7D5-C899-A999-ADFF-4E4090392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9413" y="1228725"/>
            <a:ext cx="11177587" cy="4821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BC0736-9613-8B11-4C74-19E728A38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72362"/>
              </p:ext>
            </p:extLst>
          </p:nvPr>
        </p:nvGraphicFramePr>
        <p:xfrm>
          <a:off x="376806" y="1572323"/>
          <a:ext cx="11177588" cy="3836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794">
                  <a:extLst>
                    <a:ext uri="{9D8B030D-6E8A-4147-A177-3AD203B41FA5}">
                      <a16:colId xmlns:a16="http://schemas.microsoft.com/office/drawing/2014/main" val="1491573299"/>
                    </a:ext>
                  </a:extLst>
                </a:gridCol>
                <a:gridCol w="5588794">
                  <a:extLst>
                    <a:ext uri="{9D8B030D-6E8A-4147-A177-3AD203B41FA5}">
                      <a16:colId xmlns:a16="http://schemas.microsoft.com/office/drawing/2014/main" val="2476287403"/>
                    </a:ext>
                  </a:extLst>
                </a:gridCol>
              </a:tblGrid>
              <a:tr h="95900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978333"/>
                  </a:ext>
                </a:extLst>
              </a:tr>
              <a:tr h="2877013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noProof="0"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Detect user finger placement within 2mm +/- 0.1mm</a:t>
                      </a:r>
                      <a:endParaRPr lang="en-US">
                        <a:sym typeface="Arial"/>
                      </a:endParaRP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Mark correct positions with tape; measure</a:t>
                      </a:r>
                      <a:r>
                        <a:rPr lang="en-US" sz="1800" b="1" i="0" u="none" strike="noStrike" cap="none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1" i="0" u="none" strike="noStrike" cap="none" noProof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deviation from tape when correct note detected</a:t>
                      </a:r>
                      <a:endParaRPr lang="en-US">
                        <a:sym typeface="Arial"/>
                      </a:endParaRP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70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944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07A16F58-8960-6588-F97A-59E10C91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622DB90C-C9B1-30D4-AC20-35C49084D5B9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543E8C17-1E8D-D6C7-4D3D-050823D5DF80}"/>
              </a:ext>
            </a:extLst>
          </p:cNvPr>
          <p:cNvSpPr txBox="1"/>
          <p:nvPr/>
        </p:nvSpPr>
        <p:spPr>
          <a:xfrm>
            <a:off x="376807" y="233819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Requirements/Verification: Power Subsystem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F3030D-2E64-4098-B1EF-9A1BD9FD5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8C5BD3F8-2659-8CCB-879D-9B93E5C5BF41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C90D483D-FAF0-E156-8D7D-10CAE6F4C359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1A316BE-8C44-7BB9-E1A8-06C6BD1E2ADD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1BCF604-08B8-7292-8989-46A042A8DA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D382C8-3C29-94DA-5DE6-66CBA9748BA7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B626B787-A9A1-3A11-1EAB-3ECE0B05B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9413" y="1228725"/>
            <a:ext cx="11177587" cy="4821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65A8CD-576A-A8ED-6777-82095D0E9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944599"/>
              </p:ext>
            </p:extLst>
          </p:nvPr>
        </p:nvGraphicFramePr>
        <p:xfrm>
          <a:off x="376806" y="1572323"/>
          <a:ext cx="11177588" cy="3835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794">
                  <a:extLst>
                    <a:ext uri="{9D8B030D-6E8A-4147-A177-3AD203B41FA5}">
                      <a16:colId xmlns:a16="http://schemas.microsoft.com/office/drawing/2014/main" val="1491573299"/>
                    </a:ext>
                  </a:extLst>
                </a:gridCol>
                <a:gridCol w="5588794">
                  <a:extLst>
                    <a:ext uri="{9D8B030D-6E8A-4147-A177-3AD203B41FA5}">
                      <a16:colId xmlns:a16="http://schemas.microsoft.com/office/drawing/2014/main" val="2476287403"/>
                    </a:ext>
                  </a:extLst>
                </a:gridCol>
              </a:tblGrid>
              <a:tr h="959005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Verification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978333"/>
                  </a:ext>
                </a:extLst>
              </a:tr>
              <a:tr h="143817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Consistent 3.3V +/- 5% voltage, 250mA current to the ESP32</a:t>
                      </a:r>
                      <a:endParaRPr lang="en-US">
                        <a:sym typeface="Arial"/>
                      </a:endParaRP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Use multimeter to measure</a:t>
                      </a:r>
                      <a:r>
                        <a:rPr lang="en-US" sz="1800" b="1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1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voltage drop </a:t>
                      </a:r>
                      <a:endParaRPr lang="en-US" sz="1800" b="0" i="0" u="none" strike="noStrike" cap="none" noProof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cap="none" noProof="0">
                          <a:solidFill>
                            <a:srgbClr val="000000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ESP --&gt; GND</a:t>
                      </a:r>
                      <a:endParaRPr lang="en-US" sz="1800" b="0" i="0" u="none" strike="noStrike" cap="none" noProof="0">
                        <a:solidFill>
                          <a:srgbClr val="000000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  <a:p>
                      <a:endParaRPr lang="en-US"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970743"/>
                  </a:ext>
                </a:extLst>
              </a:tr>
              <a:tr h="143817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Consistent 5V +/- 5% voltage, 500mA current to LEDs, LCD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Use multimeter to measure voltage drop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LEDs, LCD --&gt; GND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6218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684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3F30C8B8-C2DA-7F5F-7ECA-F11FC41A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0F70B6D7-F964-B35F-9E26-7BAE58ECDC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tx1"/>
                </a:solidFill>
                <a:latin typeface="Arial"/>
                <a:cs typeface="Arial"/>
              </a:rPr>
              <a:t>(Individual test)</a:t>
            </a:r>
            <a:endParaRPr lang="en-US">
              <a:solidFill>
                <a:schemeClr val="tx1"/>
              </a:solidFill>
            </a:endParaRPr>
          </a:p>
          <a:p>
            <a:pPr marL="800100"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/>
              <a:buChar char="o"/>
            </a:pPr>
            <a:r>
              <a:rPr lang="en-US" sz="2000" b="1">
                <a:solidFill>
                  <a:schemeClr val="tx1"/>
                </a:solidFill>
                <a:latin typeface="Arial"/>
                <a:cs typeface="Arial"/>
              </a:rPr>
              <a:t>Power bank output 6.4 volts (&gt;5)</a:t>
            </a:r>
          </a:p>
          <a:p>
            <a:pPr marL="800100"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/>
              <a:buChar char="o"/>
            </a:pPr>
            <a:r>
              <a:rPr lang="en-US" sz="2000" b="1">
                <a:solidFill>
                  <a:schemeClr val="tx1"/>
                </a:solidFill>
                <a:latin typeface="Arial"/>
                <a:cs typeface="Arial"/>
              </a:rPr>
              <a:t>3.3 voltage regulator output 4.2 (&gt;3.3)</a:t>
            </a:r>
            <a:endParaRPr lang="en-US">
              <a:solidFill>
                <a:schemeClr val="tx1"/>
              </a:solidFill>
            </a:endParaRPr>
          </a:p>
          <a:p>
            <a:pPr marL="3429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tx1"/>
                </a:solidFill>
                <a:latin typeface="Arial"/>
                <a:cs typeface="Arial"/>
              </a:rPr>
              <a:t>(Multi-system test)</a:t>
            </a:r>
            <a:endParaRPr lang="en-US">
              <a:solidFill>
                <a:schemeClr val="tx1"/>
              </a:solidFill>
            </a:endParaRPr>
          </a:p>
          <a:p>
            <a:pPr marL="800100"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/>
              <a:buChar char="o"/>
            </a:pPr>
            <a:r>
              <a:rPr lang="en-US" sz="2000" b="1">
                <a:solidFill>
                  <a:schemeClr val="tx1"/>
                </a:solidFill>
                <a:latin typeface="Arial"/>
                <a:cs typeface="Arial"/>
              </a:rPr>
              <a:t>Power button pin, ground at  ground of 3.3 voltage regulator</a:t>
            </a:r>
            <a:endParaRPr lang="en-US">
              <a:solidFill>
                <a:schemeClr val="tx1"/>
              </a:solidFill>
            </a:endParaRPr>
          </a:p>
          <a:p>
            <a:pPr marL="800100" lvl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/>
              <a:buChar char="o"/>
            </a:pPr>
            <a:r>
              <a:rPr lang="en-US" sz="2000" b="1">
                <a:solidFill>
                  <a:schemeClr val="tx1"/>
                </a:solidFill>
                <a:latin typeface="Arial"/>
                <a:cs typeface="Arial"/>
              </a:rPr>
              <a:t>Vin got 1.36, and </a:t>
            </a:r>
            <a:r>
              <a:rPr lang="en-US" sz="2000" b="1" err="1">
                <a:solidFill>
                  <a:schemeClr val="tx1"/>
                </a:solidFill>
                <a:latin typeface="Arial"/>
                <a:cs typeface="Arial"/>
              </a:rPr>
              <a:t>Vout</a:t>
            </a:r>
            <a:r>
              <a:rPr lang="en-US" sz="2000" b="1">
                <a:solidFill>
                  <a:schemeClr val="tx1"/>
                </a:solidFill>
                <a:latin typeface="Arial"/>
                <a:cs typeface="Arial"/>
              </a:rPr>
              <a:t> got 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6DBEE044-6D66-F2FB-7B0D-C22580267CED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C2C5FF15-F60D-CF56-8A61-9ED9E33F2EEC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+mn-lt"/>
                <a:sym typeface="Helvetica Neue Light"/>
              </a:rPr>
              <a:t>Challenges and Failures</a:t>
            </a:r>
            <a:r>
              <a:rPr lang="en-US" sz="2400">
                <a:solidFill>
                  <a:schemeClr val="lt1"/>
                </a:solidFill>
                <a:latin typeface="+mn-lt"/>
                <a:sym typeface="Helvetica Neue Light"/>
              </a:rPr>
              <a:t>:</a:t>
            </a:r>
            <a:r>
              <a:rPr lang="en-US" sz="2400" dirty="0">
                <a:solidFill>
                  <a:schemeClr val="lt1"/>
                </a:solidFill>
                <a:latin typeface="+mn-lt"/>
                <a:sym typeface="Helvetica Neue Light"/>
              </a:rPr>
              <a:t> Power </a:t>
            </a:r>
            <a:r>
              <a:rPr lang="en-US" sz="2400">
                <a:solidFill>
                  <a:schemeClr val="lt1"/>
                </a:solidFill>
                <a:latin typeface="+mn-lt"/>
                <a:sym typeface="Helvetica Neue Light"/>
              </a:rPr>
              <a:t>Subsystem</a:t>
            </a:r>
            <a:r>
              <a:rPr lang="en-US" sz="2400" dirty="0">
                <a:solidFill>
                  <a:schemeClr val="lt1"/>
                </a:solidFill>
                <a:latin typeface="+mn-lt"/>
                <a:sym typeface="Helvetica Neue Light"/>
              </a:rPr>
              <a:t> </a:t>
            </a:r>
            <a:endParaRPr lang="en-US">
              <a:solidFill>
                <a:schemeClr val="l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440FEA-3608-2DF5-EE13-175B17D03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C1DCCDCB-9235-7559-AB2F-1A3113B2DA9D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627BC8E8-8821-1033-59EF-23CA412EBF73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F61C49-D0B6-E0BB-6080-528262ADF063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9D63F4-A0C7-3CA1-9E9A-FD70627AE4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82753C5-2782-9167-B710-1E999B6BA403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750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FFDD48D3-381B-2A65-32B4-82B0F229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0026F842-7520-B91D-B3F0-A604E0C8D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chemeClr val="tx1"/>
                </a:solidFill>
                <a:latin typeface="Arial"/>
                <a:cs typeface="Arial"/>
              </a:rPr>
              <a:t>Pwr</a:t>
            </a: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/</a:t>
            </a:r>
            <a:r>
              <a:rPr lang="en-US" sz="2400" b="1" dirty="0" err="1">
                <a:solidFill>
                  <a:schemeClr val="tx1"/>
                </a:solidFill>
                <a:latin typeface="Arial"/>
                <a:cs typeface="Arial"/>
              </a:rPr>
              <a:t>Gnd</a:t>
            </a: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 pads ripped off (WEAK)</a:t>
            </a:r>
            <a:endParaRPr lang="en-US"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LED spacing sideways (between strings) very tight</a:t>
            </a:r>
            <a:endParaRPr lang="en-US"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lvl="1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,monospace"/>
              <a:buChar char="o"/>
            </a:pP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Inner LEDs not getting sufficient power</a:t>
            </a: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  <a:p>
            <a:pPr marL="457200" lvl="1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,monospace"/>
              <a:buChar char="o"/>
            </a:pPr>
            <a:r>
              <a:rPr lang="en-US" b="1" dirty="0">
                <a:solidFill>
                  <a:schemeClr val="tx1"/>
                </a:solidFill>
                <a:latin typeface="Arial"/>
                <a:cs typeface="Arial"/>
              </a:rPr>
              <a:t>Possible bridging </a:t>
            </a:r>
          </a:p>
          <a:p>
            <a:pPr marL="2857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tx1"/>
                </a:solidFill>
                <a:latin typeface="Arial"/>
                <a:cs typeface="Arial"/>
              </a:rPr>
              <a:t>Not enough capacitors; needed: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,monospace"/>
              <a:buChar char="o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specific value 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,monospace"/>
              <a:buChar char="o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*surface mount*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,monospace"/>
              <a:buChar char="o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lot of them (~20)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B8646C82-1B37-545E-0882-292BD6038F50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74E5AC5A-B57E-751C-59C8-3764734E4898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+mn-lt"/>
                <a:sym typeface="Helvetica Neue Light"/>
              </a:rPr>
              <a:t>Challenges and Failures</a:t>
            </a:r>
            <a:r>
              <a:rPr lang="en-US" sz="2400">
                <a:solidFill>
                  <a:schemeClr val="lt1"/>
                </a:solidFill>
                <a:latin typeface="+mn-lt"/>
                <a:sym typeface="Helvetica Neue Light"/>
              </a:rPr>
              <a:t>:</a:t>
            </a:r>
            <a:r>
              <a:rPr lang="en-US" sz="2400" dirty="0">
                <a:solidFill>
                  <a:schemeClr val="lt1"/>
                </a:solidFill>
                <a:latin typeface="+mn-lt"/>
                <a:sym typeface="Helvetica Neue Light"/>
              </a:rPr>
              <a:t> Flexible PCB </a:t>
            </a:r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3E17FF-2069-7FDC-B888-FDE62BB5B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11A28373-C20D-1A3F-CA90-03E2CA1418F1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D74952E2-B618-CD67-CD9B-09C947472582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EDB18-0188-B4DA-D65C-D285A3FFCA51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DB3FD6-9A90-D8F2-A2D2-0C099D7898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91DCC82-608A-CEEA-31DD-7DA586237E3C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4" descr="A hand holding a circuit board&#10;&#10;AI-generated content may be incorrect.">
            <a:extLst>
              <a:ext uri="{FF2B5EF4-FFF2-40B4-BE49-F238E27FC236}">
                <a16:creationId xmlns:a16="http://schemas.microsoft.com/office/drawing/2014/main" id="{0B132B9A-0F97-389F-092F-FC8B16F12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8" r="-204" b="3810"/>
          <a:stretch>
            <a:fillRect/>
          </a:stretch>
        </p:blipFill>
        <p:spPr bwMode="auto">
          <a:xfrm>
            <a:off x="8812924" y="972516"/>
            <a:ext cx="2733185" cy="532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705BF65-3239-9EEE-F46F-38609339696B}"/>
              </a:ext>
            </a:extLst>
          </p:cNvPr>
          <p:cNvGrpSpPr/>
          <p:nvPr/>
        </p:nvGrpSpPr>
        <p:grpSpPr>
          <a:xfrm>
            <a:off x="10416799" y="1330117"/>
            <a:ext cx="878857" cy="4387978"/>
            <a:chOff x="10416799" y="1330117"/>
            <a:chExt cx="878857" cy="438797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B80F7A-E00E-ED62-DADC-164E6C8D0455}"/>
                </a:ext>
              </a:extLst>
            </p:cNvPr>
            <p:cNvSpPr/>
            <p:nvPr/>
          </p:nvSpPr>
          <p:spPr>
            <a:xfrm>
              <a:off x="10416799" y="1330117"/>
              <a:ext cx="653367" cy="57797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7801967-5087-335E-AE94-A3C66A09E81D}"/>
                </a:ext>
              </a:extLst>
            </p:cNvPr>
            <p:cNvSpPr/>
            <p:nvPr/>
          </p:nvSpPr>
          <p:spPr>
            <a:xfrm>
              <a:off x="10642289" y="5140117"/>
              <a:ext cx="653367" cy="577978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E6C612-4F18-A247-0806-3214EDB61999}"/>
              </a:ext>
            </a:extLst>
          </p:cNvPr>
          <p:cNvSpPr/>
          <p:nvPr/>
        </p:nvSpPr>
        <p:spPr>
          <a:xfrm rot="-300000">
            <a:off x="9638365" y="1850852"/>
            <a:ext cx="758188" cy="359351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CD9A8E9-F10C-3546-96ED-0CDD020EE64F}"/>
              </a:ext>
            </a:extLst>
          </p:cNvPr>
          <p:cNvGrpSpPr/>
          <p:nvPr/>
        </p:nvGrpSpPr>
        <p:grpSpPr>
          <a:xfrm>
            <a:off x="9213793" y="1605235"/>
            <a:ext cx="1732421" cy="3496968"/>
            <a:chOff x="9213793" y="1605235"/>
            <a:chExt cx="1732421" cy="349696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353C692-E7BB-F234-DB9D-56539F0F498E}"/>
                </a:ext>
              </a:extLst>
            </p:cNvPr>
            <p:cNvSpPr/>
            <p:nvPr/>
          </p:nvSpPr>
          <p:spPr>
            <a:xfrm rot="-300000">
              <a:off x="9213793" y="1605235"/>
              <a:ext cx="1440777" cy="324881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A547DE3-9077-98E2-A082-C3B2A688312F}"/>
                </a:ext>
              </a:extLst>
            </p:cNvPr>
            <p:cNvSpPr/>
            <p:nvPr/>
          </p:nvSpPr>
          <p:spPr>
            <a:xfrm rot="-300000">
              <a:off x="9311767" y="3140996"/>
              <a:ext cx="1448552" cy="410411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9DB71AA-E895-CFAB-5304-8415DA332FEF}"/>
                </a:ext>
              </a:extLst>
            </p:cNvPr>
            <p:cNvSpPr/>
            <p:nvPr/>
          </p:nvSpPr>
          <p:spPr>
            <a:xfrm rot="-300000">
              <a:off x="9316430" y="2361015"/>
              <a:ext cx="1440777" cy="324881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09B409C-B401-DE4E-A711-459F073B759F}"/>
                </a:ext>
              </a:extLst>
            </p:cNvPr>
            <p:cNvSpPr/>
            <p:nvPr/>
          </p:nvSpPr>
          <p:spPr>
            <a:xfrm rot="-300000">
              <a:off x="9398256" y="3934246"/>
              <a:ext cx="1448552" cy="363758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63CBB15-497C-2B0E-FB9D-F4B243747EBA}"/>
                </a:ext>
              </a:extLst>
            </p:cNvPr>
            <p:cNvSpPr/>
            <p:nvPr/>
          </p:nvSpPr>
          <p:spPr>
            <a:xfrm rot="-300000">
              <a:off x="9497662" y="4691792"/>
              <a:ext cx="1448552" cy="410411"/>
            </a:xfrm>
            <a:prstGeom prst="round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050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  <p:bldP spid="13" grpId="0" animBg="1"/>
      <p:bldP spid="1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1805B-E2BB-C223-E01B-FE158B1B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3;p4">
            <a:extLst>
              <a:ext uri="{FF2B5EF4-FFF2-40B4-BE49-F238E27FC236}">
                <a16:creationId xmlns:a16="http://schemas.microsoft.com/office/drawing/2014/main" id="{91F1418D-B6BF-1071-6648-9AB42ED9BB1D}"/>
              </a:ext>
            </a:extLst>
          </p:cNvPr>
          <p:cNvSpPr txBox="1"/>
          <p:nvPr/>
        </p:nvSpPr>
        <p:spPr>
          <a:xfrm>
            <a:off x="1295400" y="3086989"/>
            <a:ext cx="96012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15264B"/>
                </a:solidFill>
                <a:latin typeface="+mn-lt"/>
                <a:ea typeface="Helvetica Neue"/>
                <a:cs typeface="Helvetica Neue"/>
                <a:sym typeface="Helvetica Neue"/>
              </a:rPr>
              <a:t>Conclusion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15264B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D1889C6-DCE4-86AA-07FC-B28D5BA56FD6}"/>
              </a:ext>
            </a:extLst>
          </p:cNvPr>
          <p:cNvGrpSpPr/>
          <p:nvPr/>
        </p:nvGrpSpPr>
        <p:grpSpPr>
          <a:xfrm>
            <a:off x="3943790" y="2676939"/>
            <a:ext cx="3861740" cy="322845"/>
            <a:chOff x="3943790" y="2676939"/>
            <a:chExt cx="3861740" cy="32284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67EFFFC-42A4-C91C-11E7-8FAE2133B5B2}"/>
                </a:ext>
              </a:extLst>
            </p:cNvPr>
            <p:cNvCxnSpPr>
              <a:cxnSpLocks/>
            </p:cNvCxnSpPr>
            <p:nvPr/>
          </p:nvCxnSpPr>
          <p:spPr>
            <a:xfrm>
              <a:off x="4426226" y="2676939"/>
              <a:ext cx="3379304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37089A5-BE72-A504-660D-6924DD47AE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790" y="2676939"/>
              <a:ext cx="482436" cy="32284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9E0C3F7-2C5F-B4B9-E6BB-EDFEB42F6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1"/>
          </a:xfrm>
          <a:prstGeom prst="rect">
            <a:avLst/>
          </a:prstGeom>
        </p:spPr>
      </p:pic>
      <p:sp>
        <p:nvSpPr>
          <p:cNvPr id="5" name="Google Shape;100;p1">
            <a:extLst>
              <a:ext uri="{FF2B5EF4-FFF2-40B4-BE49-F238E27FC236}">
                <a16:creationId xmlns:a16="http://schemas.microsoft.com/office/drawing/2014/main" id="{D3A104E7-6012-3CDC-45D0-B36573D93E4C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7" name="Google Shape;100;p1">
            <a:extLst>
              <a:ext uri="{FF2B5EF4-FFF2-40B4-BE49-F238E27FC236}">
                <a16:creationId xmlns:a16="http://schemas.microsoft.com/office/drawing/2014/main" id="{FB1A9E50-25D8-8AD8-5FFF-4C31CA43B69B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0A72FEF-8E6C-8642-7572-9A8484A7BD0A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844E439-467E-981F-B7E8-8CC99E73A7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16067F9-E3A4-3FE5-65D2-8C5DDD97DB4C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8182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4ABDE5CD-1BB9-EAC0-3FBF-F7776F071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>
            <a:extLst>
              <a:ext uri="{FF2B5EF4-FFF2-40B4-BE49-F238E27FC236}">
                <a16:creationId xmlns:a16="http://schemas.microsoft.com/office/drawing/2014/main" id="{1D078DD2-C7D1-D69D-E4BF-DCBDAA78FB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108" y="1228138"/>
            <a:ext cx="11177401" cy="4821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constructive feedback for the user on the LCD display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 optical recognition software to read sheet music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Cleaner exterior (housing, detachable system)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Slimmer flexible PCB (thinner LEDs)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USB option</a:t>
            </a:r>
          </a:p>
          <a:p>
            <a:pPr marL="742950" lvl="1" indent="-285750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en-US" b="1">
                <a:solidFill>
                  <a:schemeClr val="tx1"/>
                </a:solidFill>
                <a:latin typeface="Arial"/>
                <a:cs typeface="Arial"/>
              </a:rPr>
              <a:t>Detachable sensor arrays and software support for more instruments!</a:t>
            </a:r>
            <a:endParaRPr lang="en-U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Google Shape;145;p7">
            <a:extLst>
              <a:ext uri="{FF2B5EF4-FFF2-40B4-BE49-F238E27FC236}">
                <a16:creationId xmlns:a16="http://schemas.microsoft.com/office/drawing/2014/main" id="{90E592D9-13EB-25DC-C2A0-B7715A6073BB}"/>
              </a:ext>
            </a:extLst>
          </p:cNvPr>
          <p:cNvSpPr/>
          <p:nvPr/>
        </p:nvSpPr>
        <p:spPr>
          <a:xfrm rot="10800000" flipH="1">
            <a:off x="0" y="0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00;p1">
            <a:extLst>
              <a:ext uri="{FF2B5EF4-FFF2-40B4-BE49-F238E27FC236}">
                <a16:creationId xmlns:a16="http://schemas.microsoft.com/office/drawing/2014/main" id="{B9D5D4B8-6911-82F9-4EC4-E33D8F590BFE}"/>
              </a:ext>
            </a:extLst>
          </p:cNvPr>
          <p:cNvSpPr txBox="1"/>
          <p:nvPr/>
        </p:nvSpPr>
        <p:spPr>
          <a:xfrm>
            <a:off x="376810" y="204051"/>
            <a:ext cx="1091002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Future Improvements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947B6E-AA1A-E565-EC07-72A9BC052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76408522-A6E3-11D5-D022-2672F460B3F5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7E4AF4D7-26A8-298D-6613-556EF16BC2E1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>
                <a:solidFill>
                  <a:srgbClr val="13294B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45118D-1350-2261-1F1E-078F2A468851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rgbClr val="13294B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F9ED451-9A7F-61CC-97DD-7CE5F6CBFC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rgbClr val="1329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803E890-FC8D-1852-9749-39A29E201A73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581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47;p7">
            <a:extLst>
              <a:ext uri="{FF2B5EF4-FFF2-40B4-BE49-F238E27FC236}">
                <a16:creationId xmlns:a16="http://schemas.microsoft.com/office/drawing/2014/main" id="{E0413B06-A2E6-C746-8C3D-87E15D354737}"/>
              </a:ext>
            </a:extLst>
          </p:cNvPr>
          <p:cNvSpPr txBox="1">
            <a:spLocks/>
          </p:cNvSpPr>
          <p:nvPr/>
        </p:nvSpPr>
        <p:spPr>
          <a:xfrm>
            <a:off x="2275515" y="1778140"/>
            <a:ext cx="7640969" cy="4334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000"/>
            </a:pPr>
            <a:r>
              <a:rPr lang="en-US" sz="4600" b="1">
                <a:solidFill>
                  <a:schemeClr val="bg1"/>
                </a:solidFill>
                <a:ea typeface="Helvetica Neue Light"/>
                <a:sym typeface="Helvetica Neue Light"/>
              </a:rPr>
              <a:t>Thank You</a:t>
            </a:r>
          </a:p>
          <a:p>
            <a:pPr>
              <a:buSzPts val="3000"/>
            </a:pPr>
            <a:endParaRPr lang="en-US" b="1">
              <a:solidFill>
                <a:schemeClr val="bg1"/>
              </a:solidFill>
              <a:ea typeface="Helvetica Neue Light"/>
            </a:endParaRPr>
          </a:p>
          <a:p>
            <a:pPr>
              <a:buSzPts val="3000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Helvetica Neue Light"/>
                <a:cs typeface="Arial" panose="020B0604020202020204" pitchFamily="34" charset="0"/>
                <a:sym typeface="Helvetica Neue Light"/>
              </a:rPr>
              <a:t>Questions, Comments, Concerns?</a:t>
            </a: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  <a:p>
            <a:pPr>
              <a:buSzPts val="3000"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ea typeface="Helvetica Neue Light"/>
              <a:cs typeface="Arial" panose="020B0604020202020204" pitchFamily="34" charset="0"/>
              <a:sym typeface="Helvetica Neue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A22F80-7598-2AFF-324B-ADBB7BEAD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509" y="233819"/>
            <a:ext cx="271308" cy="389810"/>
          </a:xfrm>
          <a:prstGeom prst="rect">
            <a:avLst/>
          </a:prstGeom>
        </p:spPr>
      </p:pic>
      <p:sp>
        <p:nvSpPr>
          <p:cNvPr id="3" name="Google Shape;100;p1">
            <a:extLst>
              <a:ext uri="{FF2B5EF4-FFF2-40B4-BE49-F238E27FC236}">
                <a16:creationId xmlns:a16="http://schemas.microsoft.com/office/drawing/2014/main" id="{221A8056-ADCD-C8E9-1EA1-3EDFC80906A6}"/>
              </a:ext>
            </a:extLst>
          </p:cNvPr>
          <p:cNvSpPr txBox="1"/>
          <p:nvPr/>
        </p:nvSpPr>
        <p:spPr>
          <a:xfrm>
            <a:off x="9335597" y="6524381"/>
            <a:ext cx="2473415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GRAINGER ENGINEERING</a:t>
            </a:r>
          </a:p>
        </p:txBody>
      </p:sp>
      <p:sp>
        <p:nvSpPr>
          <p:cNvPr id="4" name="Google Shape;100;p1">
            <a:extLst>
              <a:ext uri="{FF2B5EF4-FFF2-40B4-BE49-F238E27FC236}">
                <a16:creationId xmlns:a16="http://schemas.microsoft.com/office/drawing/2014/main" id="{9E4F8546-BD63-3842-E3E4-E8E4F062A47C}"/>
              </a:ext>
            </a:extLst>
          </p:cNvPr>
          <p:cNvSpPr txBox="1"/>
          <p:nvPr/>
        </p:nvSpPr>
        <p:spPr>
          <a:xfrm>
            <a:off x="376807" y="6524381"/>
            <a:ext cx="799133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900" spc="200" dirty="0">
                <a:solidFill>
                  <a:schemeClr val="bg1"/>
                </a:solidFill>
                <a:ea typeface="Helvetica Neue Light"/>
                <a:cs typeface="Helvetica Neue Light"/>
                <a:sym typeface="Helvetica Neue Light"/>
              </a:rPr>
              <a:t>ELECTRICAL &amp; COMPUTER ENGINEERING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DE04BC-446B-0409-8106-68A5A5D485C5}"/>
              </a:ext>
            </a:extLst>
          </p:cNvPr>
          <p:cNvGrpSpPr/>
          <p:nvPr/>
        </p:nvGrpSpPr>
        <p:grpSpPr>
          <a:xfrm>
            <a:off x="4061361" y="6601537"/>
            <a:ext cx="5238725" cy="70446"/>
            <a:chOff x="4028111" y="6601537"/>
            <a:chExt cx="5238725" cy="70446"/>
          </a:xfrm>
          <a:solidFill>
            <a:schemeClr val="bg1"/>
          </a:solidFill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E0D6B3D-28A0-E43D-2BC4-497F26084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8111" y="6639606"/>
              <a:ext cx="5169964" cy="0"/>
            </a:xfrm>
            <a:prstGeom prst="line">
              <a:avLst/>
            </a:prstGeom>
            <a:grpFill/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AC12681-EFF2-A3CF-E1A0-9AB12D52A204}"/>
                </a:ext>
              </a:extLst>
            </p:cNvPr>
            <p:cNvSpPr/>
            <p:nvPr/>
          </p:nvSpPr>
          <p:spPr>
            <a:xfrm>
              <a:off x="9196390" y="6601537"/>
              <a:ext cx="70446" cy="704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9093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707957-570E-40A8-C806-A33147FA7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350" y="2791508"/>
            <a:ext cx="5414193" cy="127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0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20551</TotalTime>
  <Words>904</Words>
  <Application>Microsoft Macintosh PowerPoint</Application>
  <PresentationFormat>Widescreen</PresentationFormat>
  <Paragraphs>222</Paragraphs>
  <Slides>29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Courier New</vt:lpstr>
      <vt:lpstr>Courier New,monospace</vt:lpstr>
      <vt:lpstr>Helvetica Neue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0'd at first packet  Average of ~10ms latency with a deviation of 1ms.</vt:lpstr>
      <vt:lpstr>PowerPoint Presentation</vt:lpstr>
      <vt:lpstr>PowerPoint Presentation</vt:lpstr>
      <vt:lpstr>Upload time grows: y=0.34e0.0341x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template. Please copy this document before making any edits</dc:title>
  <dc:creator>Nielsen, Joshua</dc:creator>
  <cp:lastModifiedBy>Ignaci, Adrian Ahil</cp:lastModifiedBy>
  <cp:revision>137</cp:revision>
  <dcterms:created xsi:type="dcterms:W3CDTF">2019-01-14T22:06:33Z</dcterms:created>
  <dcterms:modified xsi:type="dcterms:W3CDTF">2026-05-06T03:51:17Z</dcterms:modified>
</cp:coreProperties>
</file>